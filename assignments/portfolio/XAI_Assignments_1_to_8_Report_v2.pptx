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Explainable AI — Labs 1–8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was required • How we implemented it • What the results mean</a:t>
            </a:r>
          </a:p>
          <a:p>
            <a:r>
              <a:t>Causal XAI • Symbolic planning • Neuro-symbolic RL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Scope:</a:t>
            </a:r>
          </a:p>
          <a:p>
            <a:pPr lvl="1">
              <a:defRPr sz="1400"/>
            </a:pPr>
            <a:r>
              <a:t>8 labs completed — all artifacts in assignments/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Structure per lab:</a:t>
            </a:r>
          </a:p>
          <a:p>
            <a:pPr lvl="1">
              <a:defRPr sz="1400"/>
            </a:pPr>
            <a:r>
              <a:t>Asked → Implementation → Results → Interpretation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Evidence:</a:t>
            </a:r>
          </a:p>
          <a:p>
            <a:pPr lvl="1">
              <a:defRPr sz="1400"/>
            </a:pPr>
            <a:r>
              <a:t>Plots, CSV tables, plans, and metrics.json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1 — What Was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Objective:</a:t>
            </a:r>
          </a:p>
          <a:p>
            <a:pPr lvl="1">
              <a:defRPr sz="1400"/>
            </a:pPr>
            <a:r>
              <a:t>Predict building cooling demand from time-series sensor data.</a:t>
            </a:r>
          </a:p>
          <a:p>
            <a:pPr lvl="1">
              <a:defRPr sz="1400"/>
            </a:pPr>
            <a:r>
              <a:t>Compare a causal (sparse, interpretable) model against a TCN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1 — How We Did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Implementation:</a:t>
            </a:r>
          </a:p>
          <a:p>
            <a:pPr lvl="1">
              <a:defRPr sz="1400"/>
            </a:pPr>
            <a:r>
              <a:t>Used Tigramite Prediction + LinearRegression on causal parents of cooling_demand.</a:t>
            </a:r>
          </a:p>
          <a:p>
            <a:pPr lvl="1">
              <a:defRPr sz="1400"/>
            </a:pPr>
            <a:r>
              <a:t>Selected only variables with a directed causal link to the target.</a:t>
            </a:r>
          </a:p>
          <a:p>
            <a:pPr lvl="1">
              <a:defRPr sz="1400"/>
            </a:pPr>
            <a:r>
              <a:t>Trained a dilated TCN on all 32 input channels as the black-box baseline.</a:t>
            </a:r>
          </a:p>
          <a:p>
            <a:pPr lvl="1">
              <a:defRPr sz="1400"/>
            </a:pPr>
            <a:r>
              <a:t>Evaluated both with NMAE on the held-out test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1 — Results &amp;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Measured outcomes:</a:t>
            </a:r>
          </a:p>
          <a:p>
            <a:pPr lvl="1">
              <a:defRPr sz="1400"/>
            </a:pPr>
            <a:r>
              <a:t>Causal model: 6 predictors, NMAE = 0.096.</a:t>
            </a:r>
          </a:p>
          <a:p>
            <a:pPr lvl="1">
              <a:defRPr sz="1400"/>
            </a:pPr>
            <a:r>
              <a:t>TCN baseline: 32 channels, NMAE = 0.130.</a:t>
            </a:r>
          </a:p>
          <a:p>
            <a:pPr lvl="1">
              <a:defRPr sz="1400"/>
            </a:pPr>
            <a:r>
              <a:t>Causal model is sparser and more accurate.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Interpretation:</a:t>
            </a:r>
          </a:p>
          <a:p>
            <a:pPr lvl="1">
              <a:defRPr sz="1400"/>
            </a:pPr>
            <a:r>
              <a:t>Humidity, past demand, and pricing drive predictions — not all 32 channels.</a:t>
            </a:r>
          </a:p>
          <a:p>
            <a:pPr lvl="1">
              <a:defRPr sz="1400"/>
            </a:pPr>
            <a:r>
              <a:t>Interpretability does not hurt accuracy; it improves it on this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1 —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Actual vs predicted cooling demand — causal model tracks the signal well.</a:t>
            </a:r>
          </a:p>
        </p:txBody>
      </p:sp>
      <p:pic>
        <p:nvPicPr>
          <p:cNvPr id="4" name="Picture 3" descr="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7092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1 —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Which causal parents contribute most to the forecast.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671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1 —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metrics_summary.csv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23774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tau_max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n_causal_predictors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n_tcn_features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nmae_causal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nstd_causal</a:t>
                      </a:r>
                    </a:p>
                  </a:txBody>
                  <a:tcPr/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cooling_demand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0.09632691440529023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0.12675926939906312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2 — What Was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Objective:</a:t>
            </a:r>
          </a:p>
          <a:p>
            <a:pPr lvl="1">
              <a:defRPr sz="1400"/>
            </a:pPr>
            <a:r>
              <a:t>Detect Pepper robot cyber-attacks online using explainable signals.</a:t>
            </a:r>
          </a:p>
          <a:p>
            <a:pPr lvl="1">
              <a:defRPr sz="1400"/>
            </a:pPr>
            <a:r>
              <a:t>Use causal coefficient drift rather than opaque anomaly scores.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2 — How We Did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Implementation:</a:t>
            </a:r>
          </a:p>
          <a:p>
            <a:pPr lvl="1">
              <a:defRPr sz="1400"/>
            </a:pPr>
            <a:r>
              <a:t>Fitted PCMCI offline to learn the causal graph and structural coefficients.</a:t>
            </a:r>
          </a:p>
          <a:p>
            <a:pPr lvl="1">
              <a:defRPr sz="1400"/>
            </a:pPr>
            <a:r>
              <a:t>Monitored sliding windows of coefficients during live operation.</a:t>
            </a:r>
          </a:p>
          <a:p>
            <a:pPr lvl="1">
              <a:defRPr sz="1400"/>
            </a:pPr>
            <a:r>
              <a:t>Flagged anomalies when coefficients deviated from the learned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2 — Results &amp;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Measured outcomes:</a:t>
            </a:r>
          </a:p>
          <a:p>
            <a:pPr lvl="1">
              <a:defRPr sz="1400"/>
            </a:pPr>
            <a:r>
              <a:t>Precision: 0.64 | Recall: 0.89 | F1: 0.75.</a:t>
            </a:r>
          </a:p>
          <a:p>
            <a:pPr lvl="1">
              <a:defRPr sz="1400"/>
            </a:pPr>
            <a:r>
              <a:t>56 false positives on normal data; strong recall on attacks.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Interpretation:</a:t>
            </a:r>
          </a:p>
          <a:p>
            <a:pPr lvl="1">
              <a:defRPr sz="1400"/>
            </a:pPr>
            <a:r>
              <a:t>High recall means most attacks are caught; precision trade-off is acceptable for safety.</a:t>
            </a:r>
          </a:p>
          <a:p>
            <a:pPr lvl="1">
              <a:defRPr sz="1400"/>
            </a:pPr>
            <a:r>
              <a:t>Per-attack CSV shows which sensor links broke for each attack type.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2 —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Coefficient drift highlights which causal links changed under attack.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30546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2 —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metrics_summary.csv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23774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false_positives_normal</a:t>
                      </a:r>
                    </a:p>
                  </a:txBody>
                  <a:tcPr/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0.643312101910828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0.8938053097345132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0.7481481481481481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3 — What Was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Objective:</a:t>
            </a:r>
          </a:p>
          <a:p>
            <a:pPr lvl="1">
              <a:defRPr sz="1400"/>
            </a:pPr>
            <a:r>
              <a:t>Plan robot actions to sample all good rocks on a grid (Rocksample).</a:t>
            </a:r>
          </a:p>
          <a:p>
            <a:pPr lvl="1">
              <a:defRPr sz="1400"/>
            </a:pPr>
            <a:r>
              <a:t>Use Answer Set Programming — no ML training.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3 — How We Did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Implementation:</a:t>
            </a:r>
          </a:p>
          <a:p>
            <a:pPr lvl="1">
              <a:defRPr sz="1400"/>
            </a:pPr>
            <a:r>
              <a:t>Wrote Clingo rules in rocksample.lp: preconditions, effects, and constraints.</a:t>
            </a:r>
          </a:p>
          <a:p>
            <a:pPr lvl="1">
              <a:defRPr sz="1400"/>
            </a:pPr>
            <a:r>
              <a:t>Implemented #program step(t) for legal moves and state transitions.</a:t>
            </a:r>
          </a:p>
          <a:p>
            <a:pPr lvl="1">
              <a:defRPr sz="1400"/>
            </a:pPr>
            <a:r>
              <a:t>Ran incremental ASP search from (0,0) to sample rocks 0 and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3 — Results &amp;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Measured outcomes:</a:t>
            </a:r>
          </a:p>
          <a:p>
            <a:pPr lvl="1">
              <a:defRPr sz="1400"/>
            </a:pPr>
            <a:r>
              <a:t>Multiple valid plans saved in plans.txt.</a:t>
            </a:r>
          </a:p>
          <a:p>
            <a:pPr lvl="1">
              <a:defRPr sz="1400"/>
            </a:pPr>
            <a:r>
              <a:t>Each plan samples good rocks 0 and 1 while respecting grid constraints.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Interpretation:</a:t>
            </a:r>
          </a:p>
          <a:p>
            <a:pPr lvl="1">
              <a:defRPr sz="1400"/>
            </a:pPr>
            <a:r>
              <a:t>Symbolic planning gives auditable action sequences, not a black-box policy.</a:t>
            </a:r>
          </a:p>
          <a:p>
            <a:pPr lvl="1">
              <a:defRPr sz="1400"/>
            </a:pPr>
            <a:r>
              <a:t>Clingo proves plan validity via logic — explainability by construction.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3 — 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Sample valid ASP plan (first 8 lines):</a:t>
            </a:r>
          </a:p>
          <a:p>
            <a:pPr>
              <a:defRPr sz="1200">
                <a:latin typeface="Consolas"/>
              </a:defRPr>
            </a:pPr>
            <a:r>
              <a:t>Answer: 1</a:t>
            </a:r>
          </a:p>
          <a:p>
            <a:pPr>
              <a:defRPr sz="1200">
                <a:latin typeface="Consolas"/>
              </a:defRPr>
            </a:pPr>
            <a:r>
              <a:t>east(2) east(3) east(4) east(6) east(7) north(5) north(8) north(11) north(13) north(14) west(1) west(10) west(12) west(15) sample(0,16) sample(1,9)</a:t>
            </a:r>
          </a:p>
          <a:p>
            <a:pPr>
              <a:defRPr sz="1200">
                <a:latin typeface="Consolas"/>
              </a:defRPr>
            </a:pPr>
            <a:r>
              <a:t>Answer: 2</a:t>
            </a:r>
          </a:p>
          <a:p>
            <a:pPr>
              <a:defRPr sz="1200">
                <a:latin typeface="Consolas"/>
              </a:defRPr>
            </a:pPr>
            <a:r>
              <a:t>east(2) east(3) east(4) east(6) east(7) north(5) north(8) north(11) north(13) north(14) south(1) west(10) west(12) west(15) sample(0,16) sample(1,9)</a:t>
            </a:r>
          </a:p>
          <a:p>
            <a:pPr>
              <a:defRPr sz="1200">
                <a:latin typeface="Consolas"/>
              </a:defRPr>
            </a:pPr>
            <a:r>
              <a:t>Answer: 3</a:t>
            </a:r>
          </a:p>
          <a:p>
            <a:pPr>
              <a:defRPr sz="1200">
                <a:latin typeface="Consolas"/>
              </a:defRPr>
            </a:pPr>
            <a:r>
              <a:t>east(2) east(3) east(4) east(6) east(7) north(1) north(5) north(8) north(11) north(13) north(14) west(10) west(12) west(15) sample(0,16) sample(1,9)</a:t>
            </a:r>
          </a:p>
          <a:p>
            <a:pPr>
              <a:defRPr sz="1200">
                <a:latin typeface="Consolas"/>
              </a:defRPr>
            </a:pPr>
            <a:r>
              <a:t>Answer: 4</a:t>
            </a:r>
          </a:p>
          <a:p>
            <a:pPr>
              <a:defRPr sz="1200">
                <a:latin typeface="Consolas"/>
              </a:defRPr>
            </a:pPr>
            <a:r>
              <a:t>east(1) east(2) east(3) east(4) east(6) east(7) north(5) north(8) north(11) north(13) north(14) west(10) west(12) west(15) sample(0,16) sample(1,9)</a:t>
            </a:r>
          </a:p>
          <a:p>
            <a:pPr>
              <a:defRPr sz="1200">
                <a:latin typeface="Consolas"/>
              </a:defRPr>
            </a:pPr>
            <a:r>
              <a:t>Answer: 5</a:t>
            </a:r>
          </a:p>
          <a:p>
            <a:pPr>
              <a:defRPr sz="1200">
                <a:latin typeface="Consolas"/>
              </a:defRPr>
            </a:pPr>
            <a:r>
              <a:t>east(2) east(3) east(4) east(6) east(7) north(5) north(8) north(11) north(13) north(14) west(10) west(12) west(15) sample(0,16) sample(1,9) sample(4,1)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4 — What Was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Objective:</a:t>
            </a:r>
          </a:p>
          <a:p>
            <a:pPr lvl="1">
              <a:defRPr sz="1400"/>
            </a:pPr>
            <a:r>
              <a:t>Learn which rocks are good from distance/guess observations (ILASP).</a:t>
            </a:r>
          </a:p>
          <a:p>
            <a:pPr lvl="1">
              <a:defRPr sz="1400"/>
            </a:pPr>
            <a:r>
              <a:t>Then plan to sample learned-good rocks using ASP.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4 — How We Did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Implementation:</a:t>
            </a:r>
          </a:p>
          <a:p>
            <a:pPr lvl="1">
              <a:defRPr sz="1400"/>
            </a:pPr>
            <a:r>
              <a:t>Added mode bias to ilasp_task.las for ILP learning.</a:t>
            </a:r>
          </a:p>
          <a:p>
            <a:pPr lvl="1">
              <a:defRPr sz="1400"/>
            </a:pPr>
            <a:r>
              <a:t>Encoded learned good(R) rules in rocksample_ilp.lp with ASP step(t).</a:t>
            </a:r>
          </a:p>
          <a:p>
            <a:pPr lvl="1">
              <a:defRPr sz="1400"/>
            </a:pPr>
            <a:r>
              <a:t>Part B: planning via run_incmode.py on Windows.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4 — Results &amp;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Measured outcomes:</a:t>
            </a:r>
          </a:p>
          <a:p>
            <a:pPr lvl="1">
              <a:defRPr sz="1400"/>
            </a:pPr>
            <a:r>
              <a:t>Plans target rock 2 when guess(2,90) &gt; 80 (learned goodness).</a:t>
            </a:r>
          </a:p>
          <a:p>
            <a:pPr lvl="1">
              <a:defRPr sz="1400"/>
            </a:pPr>
            <a:r>
              <a:t>5 valid plans in plans.txt; learned rules in learned_rules.txt.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Interpretation:</a:t>
            </a:r>
          </a:p>
          <a:p>
            <a:pPr lvl="1">
              <a:defRPr sz="1400"/>
            </a:pPr>
            <a:r>
              <a:t>Logic learns under uncertainty; ASP executes the induced policy.</a:t>
            </a:r>
          </a:p>
          <a:p>
            <a:pPr lvl="1">
              <a:defRPr sz="1400"/>
            </a:pPr>
            <a:r>
              <a:t>Full ILASP learning optional on Linux; planning verified on Windows.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4 — 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Learned ILASP rules:</a:t>
            </a:r>
          </a:p>
          <a:p>
            <a:pPr>
              <a:defRPr sz="1200">
                <a:latin typeface="Consolas"/>
              </a:defRPr>
            </a:pPr>
            <a:r>
              <a:t># Expected ILASP hypothesis (Lab 4 assignment 1)</a:t>
            </a:r>
          </a:p>
          <a:p>
            <a:pPr>
              <a:defRPr sz="1200">
                <a:latin typeface="Consolas"/>
              </a:defRPr>
            </a:pPr>
            <a:r>
              <a:t># Run: ILASP --version=4 ilasp_task.las</a:t>
            </a:r>
          </a:p>
          <a:p>
            <a:pPr>
              <a:defRPr sz="1200">
                <a:latin typeface="Consolas"/>
              </a:defRPr>
            </a:pPr>
            <a:r>
              <a:t># Slides specify rules like: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good(R) :- dist(R, D), D &lt; 1.</a:t>
            </a:r>
          </a:p>
          <a:p>
            <a:pPr>
              <a:defRPr sz="1200">
                <a:latin typeface="Consolas"/>
              </a:defRPr>
            </a:pPr>
            <a:r>
              <a:t>good(R) :- guess(R, V), V &gt; 80.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# These were placed in rocksample_ilp.lp for assignment 2.</a:t>
            </a:r>
          </a:p>
          <a:p>
            <a:pPr>
              <a:defRPr sz="1200">
                <a:latin typeface="Consolas"/>
              </a:defRPr>
            </a:pPr>
            <a:r>
              <a:t># After running ILASP on the full task, replace with the exact output</a:t>
            </a:r>
          </a:p>
          <a:p>
            <a:pPr>
              <a:defRPr sz="1200">
                <a:latin typeface="Consolas"/>
              </a:defRPr>
            </a:pPr>
            <a:r>
              <a:t># from ILASP (pick hypothesis with fewest counterexamples if using -d).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5 — What Was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Objective:</a:t>
            </a:r>
          </a:p>
          <a:p>
            <a:pPr lvl="1">
              <a:defRPr sz="1400"/>
            </a:pPr>
            <a:r>
              <a:t>Explain a trained MAPPO warehouse policy: which logical rules drive which actions?</a:t>
            </a:r>
          </a:p>
          <a:p>
            <a:pPr lvl="1">
              <a:defRPr sz="1400"/>
            </a:pPr>
            <a:r>
              <a:t>Measure rule activation rate per agent and action.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5 — How We Did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Implementation:</a:t>
            </a:r>
          </a:p>
          <a:p>
            <a:pPr lvl="1">
              <a:defRPr sz="1400"/>
            </a:pPr>
            <a:r>
              <a:t>Implemented _does_rule_activate in parallel_runner.py.</a:t>
            </a:r>
          </a:p>
          <a:p>
            <a:pPr lvl="1">
              <a:defRPr sz="1400"/>
            </a:pPr>
            <a:r>
              <a:t>Compared observation atoms to rule bodies for each MAPPO action.</a:t>
            </a:r>
          </a:p>
          <a:p>
            <a:pPr lvl="1">
              <a:defRPr sz="1400"/>
            </a:pPr>
            <a:r>
              <a:t>Ran activation-rate experiment on RWARE with checkpoint at 1M steps.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5 — Results &amp;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Measured outcomes:</a:t>
            </a:r>
          </a:p>
          <a:p>
            <a:pPr lvl="1">
              <a:defRPr sz="1400"/>
            </a:pPr>
            <a:r>
              <a:t>Agent 0: forward ~4.5%, left ~8.6%, right ~9.9%.</a:t>
            </a:r>
          </a:p>
          <a:p>
            <a:pPr lvl="1">
              <a:defRPr sz="1400"/>
            </a:pPr>
            <a:r>
              <a:t>Agent 1: load ~1.0%, right ~11.3%.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Interpretation:</a:t>
            </a:r>
          </a:p>
          <a:p>
            <a:pPr lvl="1">
              <a:defRPr sz="1400"/>
            </a:pPr>
            <a:r>
              <a:t>Return alone does not explain behavior — activation rate links rules to actions.</a:t>
            </a:r>
          </a:p>
          <a:p>
            <a:pPr lvl="1">
              <a:defRPr sz="1400"/>
            </a:pPr>
            <a:r>
              <a:t>Different agents activate different rule subsets on the same task.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5 — Plot Activation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Activation rate per rule/action — which heuristics the policy follows.</a:t>
            </a:r>
          </a:p>
        </p:txBody>
      </p:sp>
      <p:pic>
        <p:nvPicPr>
          <p:cNvPr id="4" name="Picture 3" descr="plot_activa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5 —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activation_rate_20260616005507.csv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432261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env_theory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env_test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agent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6 — What Was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Objective:</a:t>
            </a:r>
          </a:p>
          <a:p>
            <a:pPr lvl="1">
              <a:defRPr sz="1400"/>
            </a:pPr>
            <a:r>
              <a:t>DoorKey MiniGrid: guide DQN exploration with symbolic heuristics (SR-DQN).</a:t>
            </a:r>
          </a:p>
          <a:p>
            <a:pPr lvl="1">
              <a:defRPr sz="1400"/>
            </a:pPr>
            <a:r>
              <a:t>When exploring, bias action sampling toward logically suggested actions.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6 — How We Did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Implementation:</a:t>
            </a:r>
          </a:p>
          <a:p>
            <a:pPr lvl="1">
              <a:defRPr sz="1400"/>
            </a:pPr>
            <a:r>
              <a:t>Implemented _get_random_action() in SR_DQN.py.</a:t>
            </a:r>
          </a:p>
          <a:p>
            <a:pPr lvl="1">
              <a:defRPr sz="1400"/>
            </a:pPr>
            <a:r>
              <a:t>Suggested actions get weight conf_level; others share the remainder uniformly.</a:t>
            </a:r>
          </a:p>
          <a:p>
            <a:pPr lvl="1">
              <a:defRPr sz="1400"/>
            </a:pPr>
            <a:r>
              <a:t>Trained DQN vs SR-DQN on DoorKey 5×5 for 100k steps.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6 — Results &amp;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Measured outcomes:</a:t>
            </a:r>
          </a:p>
          <a:p>
            <a:pPr lvl="1">
              <a:defRPr sz="1400"/>
            </a:pPr>
            <a:r>
              <a:t>SR-DQN reaches reward ~0.7 by end of training.</a:t>
            </a:r>
          </a:p>
          <a:p>
            <a:pPr lvl="1">
              <a:defRPr sz="1400"/>
            </a:pPr>
            <a:r>
              <a:t>DQN baseline stays near 0 — random exploration fails on sparse reward.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Interpretation:</a:t>
            </a:r>
          </a:p>
          <a:p>
            <a:pPr lvl="1">
              <a:defRPr sz="1400"/>
            </a:pPr>
            <a:r>
              <a:t>Symbolic heuristics during exploration help discover the +1 goal reward.</a:t>
            </a:r>
          </a:p>
          <a:p>
            <a:pPr lvl="1">
              <a:defRPr sz="1400"/>
            </a:pPr>
            <a:r>
              <a:t>Explainable logic shapes learning, not only the final greedy policy.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6 — Rewards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DQN (blue) vs SR-DQN (orange) — heuristic-guided exploration wins.</a:t>
            </a:r>
          </a:p>
        </p:txBody>
      </p:sp>
      <p:pic>
        <p:nvPicPr>
          <p:cNvPr id="4" name="Picture 3" descr="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7 — What Was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Objective:</a:t>
            </a:r>
          </a:p>
          <a:p>
            <a:pPr lvl="1">
              <a:defRPr sz="1400"/>
            </a:pPr>
            <a:r>
              <a:t>Combine C51 (distributional DQN) with logical heuristics on return distributions.</a:t>
            </a:r>
          </a:p>
          <a:p>
            <a:pPr lvl="1">
              <a:defRPr sz="1400"/>
            </a:pPr>
            <a:r>
              <a:t>Implement the H-C51 product on PMFs for rule-suggested actions.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7 — How We Did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Implementation:</a:t>
            </a:r>
          </a:p>
          <a:p>
            <a:pPr lvl="1">
              <a:defRPr sz="1400"/>
            </a:pPr>
            <a:r>
              <a:t>In h_c51_product.py get_action(): multiply rule-suggested PMFs by 1 + ε·rule_pmf.</a:t>
            </a:r>
          </a:p>
          <a:p>
            <a:pPr lvl="1">
              <a:defRPr sz="1400"/>
            </a:pPr>
            <a:r>
              <a:t>Renormalize over atoms; compute Q-values from combined distribution.</a:t>
            </a:r>
          </a:p>
          <a:p>
            <a:pPr lvl="1">
              <a:defRPr sz="1400"/>
            </a:pPr>
            <a:r>
              <a:t>Trained C51 baseline vs H-C51 for 50k steps on DoorKey 5×5.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7 — Results &amp;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Measured outcomes:</a:t>
            </a:r>
          </a:p>
          <a:p>
            <a:pPr lvl="1">
              <a:defRPr sz="1400"/>
            </a:pPr>
            <a:r>
              <a:t>H-C51 sustains returns ~0.5–0.8.</a:t>
            </a:r>
          </a:p>
          <a:p>
            <a:pPr lvl="1">
              <a:defRPr sz="1400"/>
            </a:pPr>
            <a:r>
              <a:t>C51 baseline drops to ~0 after early episodes.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Interpretation:</a:t>
            </a:r>
          </a:p>
          <a:p>
            <a:pPr lvl="1">
              <a:defRPr sz="1400"/>
            </a:pPr>
            <a:r>
              <a:t>Heuristics shift probability mass toward high-return atoms for suggested actions.</a:t>
            </a:r>
          </a:p>
          <a:p>
            <a:pPr lvl="1">
              <a:defRPr sz="1400"/>
            </a:pPr>
            <a:r>
              <a:t>Distributional RL + logic beats plain C51 under sparse DoorKey rewards.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7 — C51 Vs Hc51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C51 baseline vs H-C51 — heuristic modulation of return distributions helps learning.</a:t>
            </a:r>
          </a:p>
        </p:txBody>
      </p:sp>
      <p:pic>
        <p:nvPicPr>
          <p:cNvPr id="4" name="Picture 3" descr="c51_vs_hc51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7 —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metrics_summary.csv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23774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steps_per_model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output_plot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note</a:t>
                      </a:r>
                    </a:p>
                  </a:txBody>
                  <a:tcPr/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MiniGrid-DoorKey-5x5-v0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['C51', 'H-C51']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c51_vs_hc51_returns.png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H-C51 sustains ~0.5-0.8 return; C51 baseline near 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8 — What Was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Objective:</a:t>
            </a:r>
          </a:p>
          <a:p>
            <a:pPr lvl="1">
              <a:defRPr sz="1400"/>
            </a:pPr>
            <a:r>
              <a:t>Pendulum swing-up with STL constraints on angular velocity and torque.</a:t>
            </a:r>
          </a:p>
          <a:p>
            <a:pPr lvl="1">
              <a:defRPr sz="1400"/>
            </a:pPr>
            <a:r>
              <a:t>Implement STL robustness-based costs in Pendulum.py step().</a:t>
            </a:r>
          </a:p>
          <a:p>
            <a:pPr lvl="1">
              <a:defRPr sz="1400"/>
            </a:pPr>
            <a:r>
              <a:t>Compare Lagrangian TRPO (explicit costs) vs reward shaping.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8 — How We Did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Implementation:</a:t>
            </a:r>
          </a:p>
          <a:p>
            <a:pPr lvl="1">
              <a:defRPr sz="1400"/>
            </a:pPr>
            <a:r>
              <a:t>Built τ-horizon trajectory [thetadot, torque] each step.</a:t>
            </a:r>
          </a:p>
          <a:p>
            <a:pPr lvl="1">
              <a:defRPr sz="1400"/>
            </a:pPr>
            <a:r>
              <a:t>Computed STL robustness ρ via RTAMT (eventually always |thetadot|≤0.5, |torque|≤0.3).</a:t>
            </a:r>
          </a:p>
          <a:p>
            <a:pPr lvl="1">
              <a:defRPr sz="1400"/>
            </a:pPr>
            <a:r>
              <a:t>Mapped ρ to smooth costs: cost = tanh(−β·ρ) per constraint (β=100).</a:t>
            </a:r>
          </a:p>
          <a:p>
            <a:pPr lvl="1">
              <a:defRPr sz="1400"/>
            </a:pPr>
            <a:r>
              <a:t>Integrated standard pendulum dynamics and reward r = −(θ² + 0.1·θ̇² + 0.001·τ²).</a:t>
            </a:r>
          </a:p>
          <a:p>
            <a:pPr lvl="1">
              <a:defRPr sz="1400"/>
            </a:pPr>
            <a:r>
              <a:t>Our method: dual critics + Lagrangian TRPO (main_pendulum_tuning.py).</a:t>
            </a:r>
          </a:p>
          <a:p>
            <a:pPr lvl="1">
              <a:defRPr sz="1400"/>
            </a:pPr>
            <a:r>
              <a:t>Baseline: STL terms mixed into reward (main_pendulum_stlgym.py).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Lab 8 — Results &amp;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Measured outcomes:</a:t>
            </a:r>
          </a:p>
          <a:p>
            <a:pPr lvl="1">
              <a:defRPr sz="1400"/>
            </a:pPr>
            <a:r>
              <a:t>Our (STL TRPO): return improves to ~−18; total cost → 0 (constraints satisfied).</a:t>
            </a:r>
          </a:p>
          <a:p>
            <a:pPr lvl="1">
              <a:defRPr sz="1400"/>
            </a:pPr>
            <a:r>
              <a:t>Reward shaping: return plateaus ~−65; cost stays ~−180 (weak satisfaction).</a:t>
            </a:r>
          </a:p>
          <a:p>
            <a:pPr lvl="1">
              <a:defRPr sz="1400"/>
            </a:pPr>
            <a:r>
              <a:t>50 episodes, seed 47, start_safety=100.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Interpretation:</a:t>
            </a:r>
          </a:p>
          <a:p>
            <a:pPr lvl="1">
              <a:defRPr sz="1400"/>
            </a:pPr>
            <a:r>
              <a:t>Higher total cost (closer to 0) means STL constraints are better satisfied.</a:t>
            </a:r>
          </a:p>
          <a:p>
            <a:pPr lvl="1">
              <a:defRPr sz="1400"/>
            </a:pPr>
            <a:r>
              <a:t>Our method separates reward maximization from constraint enforcement via dual critics.</a:t>
            </a:r>
          </a:p>
          <a:p>
            <a:pPr lvl="1">
              <a:defRPr sz="1400"/>
            </a:pPr>
            <a:r>
              <a:t>Reward shaping conflates objectives — agent optimizes return but violates torque/velocity limits.</a:t>
            </a:r>
          </a:p>
          <a:p>
            <a:pPr lvl="1">
              <a:defRPr sz="1400"/>
            </a:pPr>
            <a:r>
              <a:t>ρ_thetadot and ρ_torque subplots show robustness crossing 0 when constraints hold.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8 — Pendulum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Return over training: Our (brown) surpasses reward shaping (blue) after ~32 episodes.</a:t>
            </a:r>
          </a:p>
        </p:txBody>
      </p:sp>
      <p:pic>
        <p:nvPicPr>
          <p:cNvPr id="4" name="Picture 3" descr="pendulum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64541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8 — Pendulum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Total STL cost: Our rises toward 0 (satisfied); shaping stays near −180 (violated).</a:t>
            </a:r>
          </a:p>
        </p:txBody>
      </p:sp>
      <p:pic>
        <p:nvPicPr>
          <p:cNvPr id="4" name="Picture 3" descr="pendulum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64541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8 — Pendulum Theta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Pendulum angle |θ|: both methods learn to swing up toward upright (θ→0).</a:t>
            </a:r>
          </a:p>
        </p:txBody>
      </p:sp>
      <p:pic>
        <p:nvPicPr>
          <p:cNvPr id="4" name="Picture 3" descr="pendulum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64541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8 — Pendulum Thetadot Subplots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Angular velocity |θ̇| per agent — constraint |θ̇|≤0.5 tracked over time.</a:t>
            </a:r>
          </a:p>
        </p:txBody>
      </p:sp>
      <p:pic>
        <p:nvPicPr>
          <p:cNvPr id="4" name="Picture 3" descr="pendulum_thetadot_sub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8 — Pendulum Torque Subplots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Applied torque |τ| — constraint |τ|≤0.3; Our stays within bounds better.</a:t>
            </a:r>
          </a:p>
        </p:txBody>
      </p:sp>
      <p:pic>
        <p:nvPicPr>
          <p:cNvPr id="4" name="Picture 3" descr="pendulum_torque_sub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8 — Pendulum Rho Thetadot Subplots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STL robustness ρ for velocity: positive ρ ⇒ constraint satisfied.</a:t>
            </a:r>
          </a:p>
        </p:txBody>
      </p:sp>
      <p:pic>
        <p:nvPicPr>
          <p:cNvPr id="4" name="Picture 3" descr="pendulum_rho_thetadot_sub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C2C5C"/>
                </a:solidFill>
              </a:defRPr>
            </a:pPr>
            <a:r>
              <a:t>Lab 8 — Pendulum Rho Torque Subplots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STL robustness ρ for torque: Our reaches positive robustness; shaping does not.</a:t>
            </a:r>
          </a:p>
        </p:txBody>
      </p:sp>
      <p:pic>
        <p:nvPicPr>
          <p:cNvPr id="4" name="Picture 3" descr="pendulum_rho_torque_sub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C2C5C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C2C5C"/>
                </a:solidFill>
              </a:defRPr>
            </a:pPr>
            <a:r>
              <a:t>Completed:</a:t>
            </a:r>
          </a:p>
          <a:p>
            <a:pPr lvl="1">
              <a:defRPr sz="1400"/>
            </a:pPr>
            <a:r>
              <a:t>All 8 assignments with reproducible results folders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Key theme:</a:t>
            </a:r>
          </a:p>
          <a:p>
            <a:pPr lvl="1">
              <a:defRPr sz="1400"/>
            </a:pPr>
            <a:r>
              <a:t>Explainability via causality, logic, and constrained RL</a:t>
            </a:r>
          </a:p>
          <a:p>
            <a:pPr>
              <a:defRPr b="1" sz="1800">
                <a:solidFill>
                  <a:srgbClr val="0C2C5C"/>
                </a:solidFill>
              </a:defRPr>
            </a:pPr>
            <a:r>
              <a:t>Artifacts:</a:t>
            </a:r>
          </a:p>
          <a:p>
            <a:pPr lvl="1">
              <a:defRPr sz="1400"/>
            </a:pPr>
            <a:r>
              <a:t>assignments/portfolio/ — regenerate with build_presentation.py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