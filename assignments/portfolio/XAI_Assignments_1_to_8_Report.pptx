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Explainable AI Labs Portfolio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t>Assignments 1–8</a:t>
            </a:r>
          </a:p>
          <a:p>
            <a:pPr algn="ctr">
              <a:defRPr sz="1800"/>
            </a:pPr>
            <a:r>
              <a:t>What was required, implementation approach, and key results</a:t>
            </a:r>
          </a:p>
          <a:p>
            <a:pPr algn="ctr">
              <a:defRPr sz="1800"/>
            </a:pPr>
            <a:r>
              <a:t>Student project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8 labs completed across causal XAI, symbolic planning, and neuro-symbolic RL</a:t>
            </a:r>
          </a:p>
          <a:p>
            <a:pPr>
              <a:defRPr sz="2200"/>
            </a:pPr>
            <a:r>
              <a:t>Each lab includes: objective, implementation, and result artifacts</a:t>
            </a:r>
          </a:p>
          <a:p>
            <a:pPr>
              <a:defRPr sz="2200"/>
            </a:pPr>
            <a:r>
              <a:t>Visual evidence: plots/images from results folders</a:t>
            </a:r>
          </a:p>
          <a:p>
            <a:pPr>
              <a:defRPr sz="2200"/>
            </a:pPr>
            <a:r>
              <a:t>Structured metrics: CSV tables and JSON summaries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1 — Causal Forecasting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Predict `cooling_demand` using causal features vs TCN baseline.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Tigramite `Prediction` + LinearRegression; compare to dilated TCN.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Causal predictors: **6** (vs **32** TCN)</a:t>
            </a:r>
          </a:p>
          <a:p>
            <a:pPr lvl="1">
              <a:defRPr sz="1600"/>
            </a:pPr>
            <a:r>
              <a:t>NMAE causal: **0.096** | NMAE TCN: **0.130**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Causal model is sparser and more accurate — interpretable predictors (humidity, past demand, pricing).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1 — Result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Causal Forecasting: feature_importance.png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44784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1 — CSV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Causal Forecasting: causal_predictors.csv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7840"/>
                <a:gridCol w="5577840"/>
              </a:tblGrid>
              <a:tr h="627017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lag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cooling_demand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cooling_demand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outdoor_relative_humidity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outdoor_relative_humidity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-5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electricity_pricing_predicted_24h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outdoor_dry_bulb_temperature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2 — Explainable 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Detect Pepper robot attacks online using causal coefficient drift.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PCMCI offline model + sliding-window coefficient monitoring.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Precision: **0.64** | Recall: **0.89** | F1: **0.75**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Broken causal coefficients explain which sensors/actuators changed during each attack type.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2 — Result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Explainable Anomaly Detection: feature_importance.png</a:t>
            </a:r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29283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2 — CSV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Explainable Anomaly Detection: metrics_summary.csv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2194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false_positives_normal</a:t>
                      </a:r>
                    </a:p>
                  </a:txBody>
                  <a:tcPr/>
                </a:tc>
              </a:tr>
              <a:tr h="21945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0.643312101910828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0.8938053097345132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0.7481481481481481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3 — ASP Rocksample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Find plans that sample all good rocks using Answer Set Programming.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Implemented `#program step(t)` in `rocksample.lp` (moves + sample + constraints).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Multiple valid plans (5 saved in `plans.txt`)</a:t>
            </a:r>
          </a:p>
          <a:p>
            <a:pPr lvl="1">
              <a:defRPr sz="1600"/>
            </a:pPr>
            <a:r>
              <a:t>Samples good rocks 0 and 1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Symbolic planning — no ML training; Clingo searches action sequences.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4 — ILASP + ASP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Learn which rocks are good from `dist`/`guess`, then plan to sample them.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Mode bias in `ilasp_task.las`; rules in `rocksample_ilp.lp` + ASP `step(t)`.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Plans sample **rock 2** (`guess(2,90) &gt; 80`)</a:t>
            </a:r>
          </a:p>
          <a:p>
            <a:pPr lvl="1">
              <a:defRPr sz="1600"/>
            </a:pPr>
            <a:r>
              <a:t>5 plans in `plans.txt`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Logic learns goodness under uncertainty; ASP executes the policy.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5 — Activation Rate (Explain 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Measure how often logical rules match MAPPO agent actions on RWARE warehouse.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`_does_rule_activate` in `parallel_runner.py`; compare obs atoms to rule bodies.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(checkpoint 1M, theory index 0)</a:t>
            </a:r>
          </a:p>
          <a:p>
            <a:pPr lvl="1">
              <a:defRPr sz="1600"/>
            </a:pPr>
            <a:r>
              <a:t>Agent 0: forward ~4.5%, left ~8.6%, right ~9.9%</a:t>
            </a:r>
          </a:p>
          <a:p>
            <a:pPr lvl="1">
              <a:defRPr sz="1600"/>
            </a:pPr>
            <a:r>
              <a:t>Agent 1: load ~1.0%, right ~11.3%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Return alone doesn't explain policy — activation rate shows which rules drive which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5 — Result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Activation Rate (Explain RL): plot_activation_rate.png</a:t>
            </a:r>
          </a:p>
        </p:txBody>
      </p:sp>
      <p:pic>
        <p:nvPicPr>
          <p:cNvPr id="4" name="Picture 3" descr="plot_activation_r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5 — CSV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Activation Rate (Explain RL): activation_rate_20260616005507.csv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  <a:gridCol w="1859280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env_theory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env_test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agent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rware-img-3-tiny-2ag-v2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6 — SR-DQN (NeSy DQN)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DoorKey task: guide DQN exploration with symbolic heuristics (SR-DQN).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Implemented `_get_random_action()` — weighted sampling: `conf_level` on suggested actions, rest uniform. Trained DQN vs SR-DQN on MiniGrid-DoorKey-5x5-v0 (100k steps).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**SR-DQN** learns and reaches reward **~0.7** by end of training</a:t>
            </a:r>
          </a:p>
          <a:p>
            <a:pPr lvl="1">
              <a:defRPr sz="1600"/>
            </a:pPr>
            <a:r>
              <a:t>**DQN** baseline stays near **0** (sparse reward, random exploration fails)</a:t>
            </a:r>
          </a:p>
          <a:p>
            <a:pPr lvl="1">
              <a:defRPr sz="1600"/>
            </a:pPr>
            <a:r>
              <a:t>SR-DQN clearly outperforms standard DQN on this task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Symbolic heuristics during exploration help the agent discover the sparse +1 reward; explainable logic shapes learning, not just the final policy.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6 — Result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SR-DQN (NeSy DQN): rewards.png</a:t>
            </a:r>
          </a:p>
        </p:txBody>
      </p:sp>
      <p:pic>
        <p:nvPicPr>
          <p:cNvPr id="4" name="Picture 3" descr="rew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636422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7 — H-C51 (Distributional NeSy RL)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Combine **C51** (distributional DQN) with logical heuristics by modulating return distributions for rule-suggested actions (DoorKey 5×5).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Implemented the product in `h_c51_product.py` `get_action()`:</a:t>
            </a:r>
          </a:p>
          <a:p>
            <a:pPr lvl="1">
              <a:defRPr sz="1600"/>
            </a:pPr>
            <a:r>
              <a:t>Multiply PMFs of rule-suggested actions by `1 + ε · rule_pmf`</a:t>
            </a:r>
          </a:p>
          <a:p>
            <a:pPr lvl="1">
              <a:defRPr sz="1600"/>
            </a:pPr>
            <a:r>
              <a:t>Renormalize over atoms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**H-C51** learns quickly and sustains returns **~0.5–0.8**</a:t>
            </a:r>
          </a:p>
          <a:p>
            <a:pPr lvl="1">
              <a:defRPr sz="1600"/>
            </a:pPr>
            <a:r>
              <a:t>**C51 baseline** drops to **~0** after early episodes (sparse reward)</a:t>
            </a:r>
          </a:p>
          <a:p>
            <a:pPr lvl="1">
              <a:defRPr sz="1600"/>
            </a:pPr>
            <a:r>
              <a:t>H-C51 clearly outperforms standard C51 on DoorKey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Distributional RL + symbolic heuristics shifts probability mass toward high-return atoms for suggested actions, improving learning under sparse rewards.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7 — Result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H-C51 (Distributional NeSy RL): c51_vs_hc51_returns.png</a:t>
            </a:r>
          </a:p>
        </p:txBody>
      </p:sp>
      <p:pic>
        <p:nvPicPr>
          <p:cNvPr id="4" name="Picture 3" descr="c51_vs_hc51_retu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63642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7 — CSV Metrics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H-C51 (Distributional NeSy RL): metrics_summary.csv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1556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1136"/>
                <a:gridCol w="2231136"/>
                <a:gridCol w="2231136"/>
                <a:gridCol w="2231136"/>
                <a:gridCol w="2231136"/>
              </a:tblGrid>
              <a:tr h="21945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env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steps_per_model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output_plot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C2C5C"/>
                          </a:solidFill>
                        </a:defRPr>
                      </a:pPr>
                      <a:r>
                        <a:t>note</a:t>
                      </a:r>
                    </a:p>
                  </a:txBody>
                  <a:tcPr/>
                </a:tc>
              </a:tr>
              <a:tr h="219456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MiniGrid-DoorKey-5x5-v0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['C51', 'H-C51']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c51_vs_hc51_returns.png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H-C51 sustains ~0.5-0.8 return; C51 baseline near 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8 — STL-constrained RL (Pendulum)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>
                <a:solidFill>
                  <a:srgbClr val="0C2C5C"/>
                </a:solidFill>
              </a:defRPr>
            </a:pPr>
            <a:r>
              <a:t>Asked:</a:t>
            </a:r>
          </a:p>
          <a:p>
            <a:pPr lvl="1">
              <a:defRPr sz="1600"/>
            </a:pPr>
            <a:r>
              <a:t>Use **STL robustness** as cost signals in **Lagrangian TRPO** to constrain angular velocity and torque on the Pendulum swing-up task.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How we did it:</a:t>
            </a:r>
          </a:p>
          <a:p>
            <a:pPr lvl="1">
              <a:defRPr sz="1600"/>
            </a:pPr>
            <a:r>
              <a:t>Implemented `step()` in `stl_rl/env/Pendulum.py`:</a:t>
            </a:r>
          </a:p>
          <a:p>
            <a:pPr lvl="1">
              <a:defRPr sz="1600"/>
            </a:pPr>
            <a:r>
              <a:t>Clip torque and build a τ-horizon trajectory `[thetadot, torque]`</a:t>
            </a:r>
          </a:p>
          <a:p>
            <a:pPr lvl="1">
              <a:defRPr sz="1600"/>
            </a:pPr>
            <a:r>
              <a:t>Compute STL robustness via RTAMT (`compute_robustness_dense`)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Results:</a:t>
            </a:r>
          </a:p>
          <a:p>
            <a:pPr lvl="1">
              <a:defRPr sz="1600"/>
            </a:pPr>
            <a:r>
              <a:t>(50 episodes, seed 47)</a:t>
            </a:r>
          </a:p>
          <a:p>
            <a:pPr lvl="1">
              <a:defRPr sz="1600"/>
            </a:pPr>
            <a:r>
              <a:t>**Our (STL TRPO)** — return improves to **~-18**; total cost rises toward **0** (constraints better satisfied)</a:t>
            </a:r>
          </a:p>
          <a:p>
            <a:pPr lvl="1">
              <a:defRPr sz="1600"/>
            </a:pPr>
            <a:r>
              <a:t>**Reward shaping** — return plateaus around **~-65**; cost stays **~-180** (weaker constraint satisfaction)</a:t>
            </a:r>
          </a:p>
          <a:p>
            <a:pPr>
              <a:defRPr b="1" sz="2000">
                <a:solidFill>
                  <a:srgbClr val="0C2C5C"/>
                </a:solidFill>
              </a:defRPr>
            </a:pPr>
            <a:r>
              <a:t>Takeaway:</a:t>
            </a:r>
          </a:p>
          <a:p>
            <a:pPr lvl="1">
              <a:defRPr sz="1600"/>
            </a:pPr>
            <a:r>
              <a:t>Explicit STL costs in Lagrangian RL give better constraint satisfaction than naive reward shaping on the same Pendulum task.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Lab 8 — Result Plot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STL-constrained RL (Pendulum): pendulum_cost.png</a:t>
            </a:r>
          </a:p>
        </p:txBody>
      </p:sp>
      <p:pic>
        <p:nvPicPr>
          <p:cNvPr id="4" name="Picture 3" descr="pendulum_c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07040" cy="61874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 b="1">
                <a:solidFill>
                  <a:srgbClr val="0C2C5C"/>
                </a:solidFill>
              </a:defRPr>
            </a:pPr>
            <a:r>
              <a:t>Final Notes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All 8 assignments are completed with saved artifacts.</a:t>
            </a:r>
          </a:p>
          <a:p>
            <a:pPr>
              <a:defRPr sz="2000"/>
            </a:pPr>
            <a:r>
              <a:t>Each lab has README + SUMMARY + results folder for reproducibility.</a:t>
            </a:r>
          </a:p>
          <a:p>
            <a:pPr>
              <a:defRPr sz="2000"/>
            </a:pPr>
            <a:r>
              <a:t>Portfolio index and artifacts are in assignments/portfolio/.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